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0fbda7d-7449-52df-4667-d46f7c549acc}">
          <p14:sldIdLst>
            <p14:sldId id="256"/>
            <p14:sldId id="257"/>
            <p14:sldId id="258"/>
          </p14:sldIdLst>
        </p14:section>
        <p14:section name="Model and likelihood" id="{23ae3f0a-c887-2f87-b08f-10d98efc4b56}">
          <p14:sldIdLst>
            <p14:sldId id="259"/>
            <p14:sldId id="260"/>
            <p14:sldId id="261"/>
          </p14:sldIdLst>
        </p14:section>
        <p14:section name="Estimation methods" id="{1e9957a4-4ee0-3d27-f2ee-a5540ce99134}">
          <p14:sldIdLst>
            <p14:sldId id="262"/>
            <p14:sldId id="263"/>
            <p14:sldId id="264"/>
            <p14:sldId id="265"/>
          </p14:sldIdLst>
        </p14:section>
        <p14:section name="Simulation study" id="{35568f8a-7b8a-2fb0-68d2-1cdcd1497a5b}">
          <p14:sldIdLst>
            <p14:sldId id="266"/>
            <p14:sldId id="267"/>
            <p14:sldId id="268"/>
            <p14:sldId id="269"/>
          </p14:sldIdLst>
        </p14:section>
        <p14:section name="Real data" id="{45be43e0-e62c-220c-5c00-035ddf04ca5d}">
          <p14:sldIdLst>
            <p14:sldId id="270"/>
            <p14:sldId id="271"/>
            <p14:sldId id="272"/>
          </p14:sldIdLst>
        </p14:section>
        <p14:section name="Conclusions" id="{b2e868b0-e9cb-0ef8-9eef-0f62a87f6168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title. We study how to estimate the parameters of a heavy-tailed lifetime model (Lomax) when units are tested in several facilities and the tests are stopped early under a flexible censoring rule. Four estimation approaches are compared: maximum likelihood, pivotal quantities, Bayes with a joint prior, and order-restricted versions.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deliverables, matching the project brief. The bottom line lists the parts that are genuinely new compared with the reference papers.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practical issues. First, the units are tested in several facilities. Second, the test is stopped early and units can be withdrawn. Censored units are not failures and not missing; the likelihood uses the fact that they survived.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Lomax density, reliability and hazard. Smaller alpha means a heavier tail. The transformation U = alpha log(1 + lambda X) is exponential with mean 1; it is the key to every result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k facilities runs its own GPHC test (Cho, Sun and Lee, 2015). At least kappa failures are always seen. Contains block progressive Type-II censoring (T infinite) and block Type-I hybrid censoring as special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Failures contribute the density, withdrawn units contribute the survival function. The gamma-kernel structure in alpha is what makes all four methods tractable.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fixed lambda the MLE of alpha_i is D_i over Delta_i. Substituting gives a one-dimensional profile likelihood. Existence requires the data to look more variable than an exponential; this explains why the MLE can break down in small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ratio pivot does not depend on alpha. For Lomax it decreases in lambda and is bounded, which is different from the reference papers, so we truncate the chi-square draws. Given lambda, a second chi-square pivot gives alpha_i. We use the median of the draws because the mean is unstable.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joint prior links the facility effects through their sum and shares. The posterior factorises into an easy part times a simple weight, so importance sampling is exact and fast. A proper prior on lambda is essential because the likelihood does not vanish at lambda 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know the ordering, imposing it removes impossible estimates. The OR-MLE pools adjacent facilities that violate the order. The Bayesian version uses the ordered Gamma-Dirichlet prior; sorting the proposals keeps every draw inside the ordered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Eighteen designs. Samples are generated with the Balakrishnan-Sandhu algorithm and cut by the GPHC rule. Each design produces estimates from twelve estimators.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MSE; bottom: median absolute error. The MLE's MSE explodes because a few near-exponential samples push alpha-hat to huge values, while its typical error is fine. Pivotal estimates are stable. Bayes, especially order-restricted, is the most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 approximation is poor for lambda, so ACIs under-cover. Pivotal intervals are wider but honest. Bayes HPD intervals are the shortest; they over-cover slightly because the priors are centred at the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Box plots of 2,000 estimates of alpha_1. The counts on top show how many MLEs fall above 3. This is the practical message: do not trust the plain MLE for Lomax shapes in small or short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coal-mining data analysed in the IER reference paper. The excess over the threshold is the natural Lomax variable. Later periods have lighter tails, consistent with improved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Goodness of fit with KS tests and probability plots, then likelihood ratio tests from the course: a common lambda is supported, and there is evidence that the shapes differ across periods.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methods agree on the ordering. R_i(0.5) is the probability that a qualifying disaster kills more than about 35 people; it dropped by more than half. The curves show Bayes-OR (thick) versus MLE (thin) for censored Scheme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take-home messages, then possible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reference papers from the brief plus one extra paper that defines the censoring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B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2B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Lomax under block generalized progressive hybrid censoring  ·  DA 2141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Pivotal-Based Classical and Bayesian Estimation for the Lomax Distribution under Block Generalized Progressive Hybrid Censoring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2141 Statistics for Data Science  ·  Course project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name(s) and roll number(s)]  ·  October 2026</a:t>
            </a:r>
            <a:endParaRPr lang="en-US" sz="1800" dirty="0"/>
          </a:p>
        </p:txBody>
      </p:sp>
      <p:sp>
        <p:nvSpPr>
          <p:cNvPr id="4" name="tag-0"/>
          <p:cNvSpPr/>
          <p:nvPr/>
        </p:nvSpPr>
        <p:spPr>
          <a:xfrm>
            <a:off x="731520" y="5212080"/>
            <a:ext cx="2148840" cy="502920"/>
          </a:xfrm>
          <a:prstGeom prst="roundRect">
            <a:avLst>
              <a:gd name="adj" fmla="val 21818"/>
            </a:avLst>
          </a:prstGeom>
          <a:solidFill>
            <a:srgbClr val="2B2F38"/>
          </a:solidFill>
          <a:ln w="15875">
            <a:solidFill>
              <a:srgbClr val="E869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212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MLE</a:t>
            </a:r>
            <a:endParaRPr lang="en-US" sz="1400" dirty="0"/>
          </a:p>
        </p:txBody>
      </p:sp>
      <p:sp>
        <p:nvSpPr>
          <p:cNvPr id="6" name="tag-1"/>
          <p:cNvSpPr/>
          <p:nvPr/>
        </p:nvSpPr>
        <p:spPr>
          <a:xfrm>
            <a:off x="3063240" y="5212080"/>
            <a:ext cx="2148840" cy="502920"/>
          </a:xfrm>
          <a:prstGeom prst="roundRect">
            <a:avLst>
              <a:gd name="adj" fmla="val 21818"/>
            </a:avLst>
          </a:prstGeom>
          <a:solidFill>
            <a:srgbClr val="2B2F38"/>
          </a:solidFill>
          <a:ln w="15875">
            <a:solidFill>
              <a:srgbClr val="E869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5212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Pivotal</a:t>
            </a:r>
            <a:endParaRPr lang="en-US" sz="1400" dirty="0"/>
          </a:p>
        </p:txBody>
      </p:sp>
      <p:sp>
        <p:nvSpPr>
          <p:cNvPr id="8" name="tag-2"/>
          <p:cNvSpPr/>
          <p:nvPr/>
        </p:nvSpPr>
        <p:spPr>
          <a:xfrm>
            <a:off x="5394960" y="5212080"/>
            <a:ext cx="2148840" cy="502920"/>
          </a:xfrm>
          <a:prstGeom prst="roundRect">
            <a:avLst>
              <a:gd name="adj" fmla="val 21818"/>
            </a:avLst>
          </a:prstGeom>
          <a:solidFill>
            <a:srgbClr val="2B2F38"/>
          </a:solidFill>
          <a:ln w="15875">
            <a:solidFill>
              <a:srgbClr val="E869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5212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Bayes (joint prior)</a:t>
            </a:r>
            <a:endParaRPr lang="en-US" sz="1400" dirty="0"/>
          </a:p>
        </p:txBody>
      </p:sp>
      <p:sp>
        <p:nvSpPr>
          <p:cNvPr id="10" name="tag-3"/>
          <p:cNvSpPr/>
          <p:nvPr/>
        </p:nvSpPr>
        <p:spPr>
          <a:xfrm>
            <a:off x="7726680" y="5212080"/>
            <a:ext cx="2148840" cy="502920"/>
          </a:xfrm>
          <a:prstGeom prst="roundRect">
            <a:avLst>
              <a:gd name="adj" fmla="val 21818"/>
            </a:avLst>
          </a:prstGeom>
          <a:solidFill>
            <a:srgbClr val="2B2F38"/>
          </a:solidFill>
          <a:ln w="15875">
            <a:solidFill>
              <a:srgbClr val="E869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26680" y="5212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Order-restricted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3000" dirty="0"/>
          </a:p>
        </p:txBody>
      </p:sp>
      <p:sp>
        <p:nvSpPr>
          <p:cNvPr id="3" name="step-card-0"/>
          <p:cNvSpPr/>
          <p:nvPr/>
        </p:nvSpPr>
        <p:spPr>
          <a:xfrm>
            <a:off x="548640" y="150876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likelihood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Lomax model, block GPHC scheme, likelihood function</a:t>
            </a:r>
            <a:endParaRPr lang="en-US" sz="1500" dirty="0"/>
          </a:p>
        </p:txBody>
      </p:sp>
      <p:sp>
        <p:nvSpPr>
          <p:cNvPr id="8" name="step-card-1"/>
          <p:cNvSpPr/>
          <p:nvPr/>
        </p:nvSpPr>
        <p:spPr>
          <a:xfrm>
            <a:off x="2816352" y="150876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-2"/>
          <p:cNvSpPr/>
          <p:nvPr/>
        </p:nvSpPr>
        <p:spPr>
          <a:xfrm>
            <a:off x="2999232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3246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MLE, pivotal, Bayes (joint prior), order-restricted MLE &amp; Bayes</a:t>
            </a:r>
            <a:endParaRPr lang="en-US" sz="1500" dirty="0"/>
          </a:p>
        </p:txBody>
      </p:sp>
      <p:sp>
        <p:nvSpPr>
          <p:cNvPr id="13" name="step-card-2"/>
          <p:cNvSpPr/>
          <p:nvPr/>
        </p:nvSpPr>
        <p:spPr>
          <a:xfrm>
            <a:off x="5084064" y="150876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ircle-3"/>
          <p:cNvSpPr/>
          <p:nvPr/>
        </p:nvSpPr>
        <p:spPr>
          <a:xfrm>
            <a:off x="5266944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669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66944" y="3246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18 designs × 2,000 replications, 12 estimators</a:t>
            </a:r>
            <a:endParaRPr lang="en-US" sz="1500" dirty="0"/>
          </a:p>
        </p:txBody>
      </p:sp>
      <p:sp>
        <p:nvSpPr>
          <p:cNvPr id="18" name="step-card-3"/>
          <p:cNvSpPr/>
          <p:nvPr/>
        </p:nvSpPr>
        <p:spPr>
          <a:xfrm>
            <a:off x="7351776" y="150876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ircle-4"/>
          <p:cNvSpPr/>
          <p:nvPr/>
        </p:nvSpPr>
        <p:spPr>
          <a:xfrm>
            <a:off x="7534656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3246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British coal-mining disasters in 3 periods</a:t>
            </a:r>
            <a:endParaRPr lang="en-US" sz="1500" dirty="0"/>
          </a:p>
        </p:txBody>
      </p:sp>
      <p:sp>
        <p:nvSpPr>
          <p:cNvPr id="23" name="step-card-4"/>
          <p:cNvSpPr/>
          <p:nvPr/>
        </p:nvSpPr>
        <p:spPr>
          <a:xfrm>
            <a:off x="9619488" y="1508760"/>
            <a:ext cx="2103120" cy="3063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ircle-5"/>
          <p:cNvSpPr/>
          <p:nvPr/>
        </p:nvSpPr>
        <p:spPr>
          <a:xfrm>
            <a:off x="9802368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0236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2423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code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802368" y="32461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Reproducible Python package + 29-page report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New for Lomax: an MLE existence condition, a decreasing &amp; bounded pivot (truncated algorithm), and an exact importance sampler for joint and ordered priors.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problem?</a:t>
            </a:r>
            <a:endParaRPr lang="en-US" sz="3000" dirty="0"/>
          </a:p>
        </p:txBody>
      </p:sp>
      <p:sp>
        <p:nvSpPr>
          <p:cNvPr id="3" name="card-facilities"/>
          <p:cNvSpPr/>
          <p:nvPr/>
        </p:nvSpPr>
        <p:spPr>
          <a:xfrm>
            <a:off x="548640" y="1325880"/>
            <a:ext cx="53949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Several test facilities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37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 enough equipment to test all n units at once → split into k blocks (block censoring)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Identical-looking facilities still give different results → model a facility effect αᵢ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Common failure mechanism → shared parameter λ</a:t>
            </a:r>
            <a:endParaRPr lang="en-US" sz="1500" dirty="0"/>
          </a:p>
        </p:txBody>
      </p:sp>
      <p:sp>
        <p:nvSpPr>
          <p:cNvPr id="8" name="card-censoring"/>
          <p:cNvSpPr/>
          <p:nvPr/>
        </p:nvSpPr>
        <p:spPr>
          <a:xfrm>
            <a:off x="6217920" y="1325880"/>
            <a:ext cx="53949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-2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600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test early (censoring)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40280"/>
            <a:ext cx="49377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Type-I (fixed time) may give too few failures; Type-II (fixed count) may take too long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Generalized progressive hybrid censoring: at least κ failures, stop by time T or the m-th failure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Units may be withdrawn during the test (progressive removals)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Goal: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estimate the facility effects αᵢ, the common λ, and the reliability R(t), hazard h(t) and median lifetime of each facility — with point and interval estimates, with and without the natural ordering α₁ ≤ α₂ ≤ α₃.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Lomax (Pareto II) lifetime model</a:t>
            </a:r>
            <a:endParaRPr lang="en-US" sz="3000" dirty="0"/>
          </a:p>
        </p:txBody>
      </p:sp>
      <p:pic>
        <p:nvPicPr>
          <p:cNvPr id="3" name="eq-lomax" descr="C:\Users\yashc\OneDrive\Desktop\Stats Project\results\figures\eq_lo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010" y="1325880"/>
            <a:ext cx="7937500" cy="685800"/>
          </a:xfrm>
          <a:prstGeom prst="rect">
            <a:avLst/>
          </a:prstGeom>
        </p:spPr>
      </p:pic>
      <p:pic>
        <p:nvPicPr>
          <p:cNvPr id="4" name="lomax-shapes" descr="C:\Users\yashc\OneDrive\Desktop\Stats Project\results\figures\lomax_sha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6583680" cy="24425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06640" y="228600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Heavy (polynomial) right tail; mean infinite if α ≤ 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Hazard always decreasing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Gamma mixture of exponentials; exceedances over a high threshold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Exponential limit: λ → 0, α → ∞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Key trick:</a:t>
            </a:r>
            <a:endParaRPr lang="en-US" sz="1500" dirty="0"/>
          </a:p>
        </p:txBody>
      </p:sp>
      <p:pic>
        <p:nvPicPr>
          <p:cNvPr id="6" name="eq-transform" descr="C:\Users\yashc\OneDrive\Desktop\Stats Project\results\figures\eq_trans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892040"/>
            <a:ext cx="3931920" cy="3841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generalized progressive hybrid censoring (BGPHC)</a:t>
            </a:r>
            <a:endParaRPr lang="en-US" sz="3000" dirty="0"/>
          </a:p>
        </p:txBody>
      </p:sp>
      <p:pic>
        <p:nvPicPr>
          <p:cNvPr id="3" name="schematic" descr="C:\Users\yashc\OneDrive\Desktop\Stats Project\results\figures\schematic_bgph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409" y="1234440"/>
            <a:ext cx="10574701" cy="3977640"/>
          </a:xfrm>
          <a:prstGeom prst="rect">
            <a:avLst/>
          </a:prstGeom>
        </p:spPr>
      </p:pic>
      <p:pic>
        <p:nvPicPr>
          <p:cNvPr id="4" name="eq-stop" descr="C:\Users\yashc\OneDrive\Desktop\Stats Project\results\figures\eq_s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94960"/>
            <a:ext cx="5120640" cy="426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852160" y="53035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Case I: stop at the κ-th failure  ·  Case II: stop at T  ·  Case III: stop at the m-th failure. Each facility i records Dᵢ failures, removals Rᵢⱼ and Rᵢᵀ units withdrawn at 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likelihood covers all three cases</a:t>
            </a:r>
            <a:endParaRPr lang="en-US" sz="3000" dirty="0"/>
          </a:p>
        </p:txBody>
      </p:sp>
      <p:pic>
        <p:nvPicPr>
          <p:cNvPr id="3" name="eq-likelihood" descr="C:\Users\yashc\OneDrive\Desktop\Stats Project\results\figures\eq_likelih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463040"/>
            <a:ext cx="6949440" cy="868680"/>
          </a:xfrm>
          <a:prstGeom prst="rect">
            <a:avLst/>
          </a:prstGeom>
        </p:spPr>
      </p:pic>
      <p:pic>
        <p:nvPicPr>
          <p:cNvPr id="4" name="eq-delta" descr="C:\Users\yashc\OneDrive\Desktop\Stats Project\results\figures\eq_del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969" y="2560320"/>
            <a:ext cx="4433582" cy="640080"/>
          </a:xfrm>
          <a:prstGeom prst="rect">
            <a:avLst/>
          </a:prstGeom>
        </p:spPr>
      </p:pic>
      <p:sp>
        <p:nvSpPr>
          <p:cNvPr id="5" name="card-insight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2296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3434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Δᵢ(λ) is the total time on test on the exponential scale log(1 + λx)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fixed λ, αᵢ appears only as αᵢ^Dᵢ e^(−αᵢΔᵢ) — a gamma kernel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→ closed-form MLE of αᵢ, chi-square pivots, gamma posterior conditionals, isotonic order-restricted solution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likelihood estimation</a:t>
            </a:r>
            <a:endParaRPr lang="en-US" sz="3000" dirty="0"/>
          </a:p>
        </p:txBody>
      </p:sp>
      <p:pic>
        <p:nvPicPr>
          <p:cNvPr id="3" name="eq-mle" descr="C:\Users\yashc\OneDrive\Desktop\Stats Project\results\figures\eq_m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416552" cy="685800"/>
          </a:xfrm>
          <a:prstGeom prst="rect">
            <a:avLst/>
          </a:prstGeom>
        </p:spPr>
      </p:pic>
      <p:pic>
        <p:nvPicPr>
          <p:cNvPr id="4" name="eq-exist" descr="C:\Users\yashc\OneDrive\Desktop\Stats Project\results\figures\eq_ex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4513322" cy="594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063240"/>
            <a:ext cx="5852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Profile likelihood ℓp(λ) → 1-D search (grid + Brent)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Theorem 2: MLE exists if S₀ &gt; 0 — for one complete sample this is CV &gt; 1 (data more variable than exponential)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Otherwise λ̂ → 0, α̂ → ∞ (exponential limit)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Asymptotic CIs: observed Fisher information + delta method for R(t), h(t), MdTF</a:t>
            </a:r>
            <a:endParaRPr lang="en-US" sz="1500" dirty="0"/>
          </a:p>
        </p:txBody>
      </p:sp>
      <p:pic>
        <p:nvPicPr>
          <p:cNvPr id="6" name="profile-plot" descr="C:\Users\yashc\OneDrive\Desktop\Stats Project\results\figures\real_profile_logli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5029200" cy="152330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583680" y="3626421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Profile log-likelihood of λ, coal-mining data (complete, Scheme 1, Scheme 2): a single maximum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Pivotal (generalized pivotal quantity) inference</a:t>
            </a:r>
            <a:endParaRPr lang="en-US" sz="3000" dirty="0"/>
          </a:p>
        </p:txBody>
      </p:sp>
      <p:pic>
        <p:nvPicPr>
          <p:cNvPr id="3" name="eq-pivots" descr="C:\Users\yashc\OneDrive\Desktop\Stats Project\results\figures\eq_piv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725" y="1325880"/>
            <a:ext cx="6656070" cy="731520"/>
          </a:xfrm>
          <a:prstGeom prst="rect">
            <a:avLst/>
          </a:prstGeom>
        </p:spPr>
      </p:pic>
      <p:sp>
        <p:nvSpPr>
          <p:cNvPr id="4" name="card-theorem"/>
          <p:cNvSpPr/>
          <p:nvPr/>
        </p:nvSpPr>
        <p:spPr>
          <a:xfrm>
            <a:off x="548640" y="2377440"/>
            <a:ext cx="530352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2514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Theorem 3 (new for Lomax)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01752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𝒫(λ) is strictly decreasing in λ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𝒫(λ) → 0 as λ → ∞, but 𝒫(0⁺) is finite (exponential limit)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𝒫(λ) = c has a root only if c &lt; 𝒫(0⁺) → draw c from a truncated χ²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IER/Burr-XII pivots (refs 1–2) increase from 0 to ∞ — no truncation needed there</a:t>
            </a:r>
            <a:endParaRPr lang="en-US" sz="1400" dirty="0"/>
          </a:p>
        </p:txBody>
      </p:sp>
      <p:sp>
        <p:nvSpPr>
          <p:cNvPr id="7" name="circle-1"/>
          <p:cNvSpPr/>
          <p:nvPr/>
        </p:nvSpPr>
        <p:spPr>
          <a:xfrm>
            <a:off x="621792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 c ~ χ² truncated to (0, 𝒫(0⁺)); solve 𝒫(λ) = c (bisection)</a:t>
            </a:r>
            <a:endParaRPr lang="en-US" sz="1500" dirty="0"/>
          </a:p>
        </p:txBody>
      </p:sp>
      <p:sp>
        <p:nvSpPr>
          <p:cNvPr id="10" name="circle-2"/>
          <p:cNvSpPr/>
          <p:nvPr/>
        </p:nvSpPr>
        <p:spPr>
          <a:xfrm>
            <a:off x="621792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3566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Draw χ²(2Dᵢ) and set αᵢ = χ² / (2Δᵢ(λ))</a:t>
            </a:r>
            <a:endParaRPr lang="en-US" sz="1500" dirty="0"/>
          </a:p>
        </p:txBody>
      </p:sp>
      <p:sp>
        <p:nvSpPr>
          <p:cNvPr id="13" name="circle-3"/>
          <p:cNvSpPr/>
          <p:nvPr/>
        </p:nvSpPr>
        <p:spPr>
          <a:xfrm>
            <a:off x="6217920" y="4709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Repeat N times → point estimate = median, 95% GCI = 2.5% and 97.5% quantiles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5669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Median, not mean: the pivotal draws are very right-skewed.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estimation with a joint Gamma–Dirichlet prior</a:t>
            </a:r>
            <a:endParaRPr lang="en-US" sz="3000" dirty="0"/>
          </a:p>
        </p:txBody>
      </p:sp>
      <p:pic>
        <p:nvPicPr>
          <p:cNvPr id="3" name="eq-gd" descr="C:\Users\yashc\OneDrive\Desktop\Stats Project\results\figures\eq_g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978183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4884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Sum α₊ ~ Gamma(a₀, b₀); shares αᵢ/α₊ ~ Dirichlet(c) (ref.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Dependent prior: correlation &gt; 0 if a₀ &lt; c₊, = 0 if a₀ = c₊, &lt; 0 if a₀ &gt; c₊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λ ~ Gamma(a, b) — must be proper: vague priors give an improper posterior</a:t>
            </a:r>
            <a:endParaRPr lang="en-US" sz="1500" dirty="0"/>
          </a:p>
        </p:txBody>
      </p:sp>
      <p:pic>
        <p:nvPicPr>
          <p:cNvPr id="5" name="eq-linex" descr="C:\Users\yashc\OneDrive\Desktop\Stats Project\results\figures\eq_lin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43400"/>
            <a:ext cx="6035040" cy="6393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74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Squared-error and LINEX (h = 1) loss; 95% HPD credible intervals</a:t>
            </a:r>
            <a:endParaRPr lang="en-US" sz="1300" dirty="0"/>
          </a:p>
        </p:txBody>
      </p:sp>
      <p:sp>
        <p:nvSpPr>
          <p:cNvPr id="7" name="card-is"/>
          <p:cNvSpPr/>
          <p:nvPr/>
        </p:nvSpPr>
        <p:spPr>
          <a:xfrm>
            <a:off x="6858000" y="1325880"/>
            <a:ext cx="4754880" cy="4617720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86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sampler (exact, no MCMC)</a:t>
            </a:r>
            <a:endParaRPr lang="en-US" sz="1800" dirty="0"/>
          </a:p>
        </p:txBody>
      </p:sp>
      <p:sp>
        <p:nvSpPr>
          <p:cNvPr id="9" name="circle-1"/>
          <p:cNvSpPr/>
          <p:nvPr/>
        </p:nvSpPr>
        <p:spPr>
          <a:xfrm>
            <a:off x="7086600" y="2148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86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7680960" y="2103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Sample λ from its 1-D marginal on a fine grid</a:t>
            </a:r>
            <a:endParaRPr lang="en-US" sz="1500" dirty="0"/>
          </a:p>
        </p:txBody>
      </p:sp>
      <p:sp>
        <p:nvSpPr>
          <p:cNvPr id="12" name="circle-2"/>
          <p:cNvSpPr/>
          <p:nvPr/>
        </p:nvSpPr>
        <p:spPr>
          <a:xfrm>
            <a:off x="7086600" y="3291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0866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3246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Sample αᵢ | λ ~ Gamma(Dᵢ + cᵢ, b₀ + Δᵢ(λ))</a:t>
            </a:r>
            <a:endParaRPr lang="en-US" sz="1500" dirty="0"/>
          </a:p>
        </p:txBody>
      </p:sp>
      <p:sp>
        <p:nvSpPr>
          <p:cNvPr id="15" name="circle-3"/>
          <p:cNvSpPr/>
          <p:nvPr/>
        </p:nvSpPr>
        <p:spPr>
          <a:xfrm>
            <a:off x="7086600" y="4434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0866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Weight w = α₊^(a₀ − c₊) → posterior means, LINEX, HPD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086600" y="5486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No burn-in, no tuning, fully vectorised; exact when a₀ = c₊.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Order-restricted inference: α₁ ≤ α₂ ≤ … ≤ αₖ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19–42%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of simulated samples had unrestricted MLEs in the wrong order</a:t>
            </a:r>
            <a:endParaRPr lang="en-US" sz="1300" dirty="0"/>
          </a:p>
        </p:txBody>
      </p:sp>
      <p:sp>
        <p:nvSpPr>
          <p:cNvPr id="5" name="card-ormle"/>
          <p:cNvSpPr/>
          <p:nvPr/>
        </p:nvSpPr>
        <p:spPr>
          <a:xfrm>
            <a:off x="4206240" y="1325880"/>
            <a:ext cx="74066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34840" y="1417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Order-restricted MLE (isotonic regression)</a:t>
            </a:r>
            <a:endParaRPr lang="en-US" sz="1700" dirty="0"/>
          </a:p>
        </p:txBody>
      </p:sp>
      <p:pic>
        <p:nvPicPr>
          <p:cNvPr id="7" name="eq-ormle" descr="C:\Users\yashc\OneDrive\Desktop\Stats Project\results\figures\eq_orm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828800"/>
            <a:ext cx="3016724" cy="1143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34840" y="3063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Computed by pool-adjacent-violators; then maximise over λ.</a:t>
            </a:r>
            <a:endParaRPr lang="en-US" sz="1300" dirty="0"/>
          </a:p>
        </p:txBody>
      </p:sp>
      <p:sp>
        <p:nvSpPr>
          <p:cNvPr id="9" name="card-orbayes"/>
          <p:cNvSpPr/>
          <p:nvPr/>
        </p:nvSpPr>
        <p:spPr>
          <a:xfrm>
            <a:off x="4206240" y="3794760"/>
            <a:ext cx="74066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34840" y="3886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Order-restricted Bayes (ordered GD prior, ref. 3)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434840" y="434340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 = density of the order statistics of a GD vector (sum over k! permutations)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Sampler: draw αᵢ' from the gamma conditionals, sort them, re-weight by target / density of the sorted vector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089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Stress levels, operators or time periods often have a known ordering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Coal data: mine safety improved, so tails got lighter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design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Facilities / truth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 = 3;  α = (0.50, 0.75, 1.00) (ordered),  λ = 1,  t₀ = 1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Sizes (nᵢ, mᵢ, κᵢ)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S1 = (20, 15, 10),  S2 = (30, 24, 15),  S3 = (40, 32, 20)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Time limit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 = 3 (short test),  T = 8 (long test)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Removal schemes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A: all at m-th failure;  B: all at 1st failure;  C: half / half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Replications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2,000 per design × 18 designs;  1,000 pivotal draws;  2,000 IS draws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Priors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P1 informative (a₀ = 4),  P2 weakly informative (a₀ = 1)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Criteria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Bias, MSE, median abs. error;  length and coverage of 95% intervals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Heavy tails (α ≤ 1) keep the Lomax clearly away from its exponential limit; a light-tailed pilot (α = 1–2) gave non-existent MLEs in about 20% of samples.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Bayes-OR is best; the MLE has rare but huge failures</a:t>
            </a:r>
            <a:endParaRPr lang="en-US" sz="3000" dirty="0"/>
          </a:p>
        </p:txBody>
      </p:sp>
      <p:pic>
        <p:nvPicPr>
          <p:cNvPr id="3" name="sim-mse" descr="C:\Users\yashc\OneDrive\Desktop\Stats Project\results\figures\sim_mse_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589520" cy="371533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25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96.6 vs 0.15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21031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MSE of α₁: MLE vs pivotal (n = 20, T = 3) — same typical error (0.18 vs 0.17)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18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749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designs where order-restricted Bayes has the lowest MSE for α₂, R₂, R₃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Bottom row: median absolute error — robust to the few runaway MLEs.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Intervals: pivotal GCIs keep their promise of 95%</a:t>
            </a:r>
            <a:endParaRPr lang="en-US" sz="3000" dirty="0"/>
          </a:p>
        </p:txBody>
      </p:sp>
      <p:pic>
        <p:nvPicPr>
          <p:cNvPr id="3" name="sim-coverage" descr="C:\Users\yashc\OneDrive\Desktop\Stats Project\results\figures\sim_coverage_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28958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34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93.5–97.5%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212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coverage of pivotal GCIs in all 18 designs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4434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81–90%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5212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coverage of MLE-based ACIs for λ (Wald fails)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434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5212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Bayes HPD intervals, coverage ≥ 95% for α, λ; 92–96% for R(t)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MLE's MSE explodes</a:t>
            </a:r>
            <a:endParaRPr lang="en-US" sz="3000" dirty="0"/>
          </a:p>
        </p:txBody>
      </p:sp>
      <p:pic>
        <p:nvPicPr>
          <p:cNvPr id="3" name="sim-boxplots" descr="C:\Users\yashc\OneDrive\Desktop\Stats Project\results\figures\sim_boxplots_alph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1064240" cy="32347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Typical MLE is fine — the medians sit near the truth (0.5)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But 90 of 2,000 MLEs exceed 3 when nᵢ = 20, T = 3: the sample looks exponential, λ̂ → 0, α̂ explodes (Theorem 2)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Pivotal and Bayes estimators are robust; the problem fades for nᵢ ≥ 30 with a long test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data: fatalities in British coal-mining disasters</a:t>
            </a:r>
            <a:endParaRPr lang="en-US" sz="3000" dirty="0"/>
          </a:p>
        </p:txBody>
      </p:sp>
      <p:pic>
        <p:nvPicPr>
          <p:cNvPr id="3" name="real-descriptive" descr="C:\Users\yashc\OneDrive\Desktop\Stats Project\results\figures\real_descrip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223760" cy="27015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0" y="1325880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Disasters with ≥ 10 deaths (data from ref. 2); 3 periods = 3 "facilities": 1900–19 (n = 21), 1920–39 (n = 20), 1940–59 (n = 17)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the excess over the recording threshold: y = x − 0.19 (peaks over threshold)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Prior knowledge: safety improved, so tails get lighter: α₁ ≤ α₂ ≤ α₃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All three periods are right-skewed with coefficient of variation &gt; 1 → Lomax MLE exists.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checking: Lomax fits, common λ is supported</a:t>
            </a:r>
            <a:endParaRPr lang="en-US" sz="3000" dirty="0"/>
          </a:p>
        </p:txBody>
      </p:sp>
      <p:pic>
        <p:nvPicPr>
          <p:cNvPr id="3" name="real-gof" descr="C:\Users\yashc\OneDrive\Desktop\Stats Project\results\figures\real_g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702" y="1188720"/>
            <a:ext cx="5594596" cy="5029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75120" y="1280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&gt; 0.54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KS tests, Lomax with common λ, all periods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235440" y="1280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0.65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LRT: H₀ λ₁ = λ₂ = λ₃ not rejected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0.051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LRT: H₀ α₁ = α₂ = α₃ (complete data)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0.026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same test, censored Scheme 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846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Lomax beats the exponential on AIC in every period; the exponential is rejected for 1920–39 (KS p = 0.035).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Estimates: large disasters became much less likely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Complete data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F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F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Pivotal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F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Bayes-U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F3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Bayes-OR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B2F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α₁ (1900–19)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0.913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0.794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0.980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0.981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α₂ (1920–39)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1.602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1.342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1.753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1.663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α₃ (1940–59)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1.981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1.638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2.178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2.328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λ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2.514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3.326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2.675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2.663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R₁(0.5)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0.476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0.470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0.487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0.488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R₂(0.5)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0.271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0.275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0.287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R₃(0.5)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0.199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0.208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0.218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0.192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4" name="real-curves" descr="C:\Users\yashc\OneDrive\Desktop\Stats Project\results\figures\real_curves_schem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80160"/>
            <a:ext cx="5303520" cy="198312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309360" y="41605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P(a disaster kills &gt; ~35 people) fell from ≈ 0.48 (1900–19) to ≈ 0.20 (1940–59)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Censoring (Schemes 1, 2) widens intervals for λ but barely moves R(t)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Bayes-OR gives the shortest HPD intervals for the reliabilities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recommendations</a:t>
            </a:r>
            <a:endParaRPr lang="en-US" sz="3000" dirty="0"/>
          </a:p>
        </p:txBody>
      </p:sp>
      <p:sp>
        <p:nvSpPr>
          <p:cNvPr id="3" name="concl-0"/>
          <p:cNvSpPr/>
          <p:nvPr/>
        </p:nvSpPr>
        <p:spPr>
          <a:xfrm>
            <a:off x="54864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ncl-dot-0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E8692C"/>
          </a:solidFill>
          <a:ln w="12700">
            <a:solidFill>
              <a:srgbClr val="E869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Pivotal → honest intervals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Truncated, median-based GPQs give near-95% coverage without priors or large-sample theory.</a:t>
            </a:r>
            <a:endParaRPr lang="en-US" sz="1500" dirty="0"/>
          </a:p>
        </p:txBody>
      </p:sp>
      <p:sp>
        <p:nvSpPr>
          <p:cNvPr id="7" name="concl-1"/>
          <p:cNvSpPr/>
          <p:nvPr/>
        </p:nvSpPr>
        <p:spPr>
          <a:xfrm>
            <a:off x="429768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cl-dot-1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Order-restricted Bayes → most accurate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joint GD prior plus a known ordering gives the smallest errors and the shortest intervals.</a:t>
            </a:r>
            <a:endParaRPr lang="en-US" sz="1500" dirty="0"/>
          </a:p>
        </p:txBody>
      </p:sp>
      <p:sp>
        <p:nvSpPr>
          <p:cNvPr id="11" name="concl-2"/>
          <p:cNvSpPr/>
          <p:nvPr/>
        </p:nvSpPr>
        <p:spPr>
          <a:xfrm>
            <a:off x="8046720" y="141732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ncl-dot-2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2331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careful with the plain MLE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Lomax shapes need visible tails: small or short tests can make the MLE (and Wald CIs) unreliable.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Future work: exact pivots under GPHC, bootstrap intervals for the OR-MLE, optimal censoring plans, facility-specific λᵢ.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[1] Kumari, Tripathi, Lodhi &amp; Wang (2025). Pivotal based reliability inference for Burr-XII distribution under block progressive type-II censoring. Comm. Stat. – Simulation &amp; Computation 55(8).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[2] Lodhi, Gangopadhyay &amp; Bhattacharya (2025). Likelihood and pivotal-based reliability inference for inverse exponentiated Rayleigh distribution under block progressive censoring. QTQM 22(4), 779–804.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[3] Sultana, Çetinkaya, Raqab &amp; Kundu (2026). Inference for block Type-I hybrid censored Weibull populations. Comm. Stat. – Theory &amp; Methods 55(11), 3436–3459.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[4] Cho, Sun &amp; Lee (2015). Exact likelihood inference for an exponential parameter under generalized progressive hybrid censoring scheme. Statistical Methodology 23, 18–34. (the one additional reference)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Course texts: Casella &amp; Berger, Statistical Inference; Hogg, McKean &amp; Craig, Introduction to Mathematical Statistics.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0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results, report and this deck are fully reproducible (fixed random seeds).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EB4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al and Ember">
  <a:themeElements>
    <a:clrScheme name="Coal and Ember">
      <a:dk1>
        <a:srgbClr val="1B1D22"/>
      </a:dk1>
      <a:lt1>
        <a:srgbClr val="FFFFFF"/>
      </a:lt1>
      <a:dk2>
        <a:srgbClr val="2B2F38"/>
      </a:dk2>
      <a:lt2>
        <a:srgbClr val="F3F4F6"/>
      </a:lt2>
      <a:accent1>
        <a:srgbClr val="E8692C"/>
      </a:accent1>
      <a:accent2>
        <a:srgbClr val="2A78D6"/>
      </a:accent2>
      <a:accent3>
        <a:srgbClr val="1BAF7A"/>
      </a:accent3>
      <a:accent4>
        <a:srgbClr val="F2B134"/>
      </a:accent4>
      <a:accent5>
        <a:srgbClr val="5B6573"/>
      </a:accent5>
      <a:accent6>
        <a:srgbClr val="4A3AA7"/>
      </a:accent6>
      <a:hlink>
        <a:srgbClr val="2A78D6"/>
      </a:hlink>
      <a:folHlink>
        <a:srgbClr val="4A3AA7"/>
      </a:folHlink>
    </a:clrScheme>
    <a:fontScheme name="Coal and Emb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Lomax distribution under block generalized progressive hybrid censoring</dc:title>
  <dc:subject>DA 2141 Statistics for Data Science - course project</dc:subject>
  <dc:creator>PptxGenJS</dc:creator>
  <cp:lastModifiedBy>PptxGenJS</cp:lastModifiedBy>
  <cp:revision>1</cp:revision>
  <dcterms:created xsi:type="dcterms:W3CDTF">2026-10-05T13:52:25Z</dcterms:created>
  <dcterms:modified xsi:type="dcterms:W3CDTF">2026-10-05T13:52:25Z</dcterms:modified>
</cp:coreProperties>
</file>